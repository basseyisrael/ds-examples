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8" autoAdjust="0"/>
  </p:normalViewPr>
  <p:slideViewPr>
    <p:cSldViewPr snapToGrid="0">
      <p:cViewPr>
        <p:scale>
          <a:sx n="66" d="100"/>
          <a:sy n="66" d="100"/>
        </p:scale>
        <p:origin x="90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496267-BEEB-46E3-9568-912ECFE7F804}" type="doc">
      <dgm:prSet loTypeId="urn:microsoft.com/office/officeart/2005/8/layout/process1" loCatId="process" qsTypeId="urn:microsoft.com/office/officeart/2005/8/quickstyle/3d4" qsCatId="3D" csTypeId="urn:microsoft.com/office/officeart/2005/8/colors/colorful3" csCatId="colorful" phldr="1"/>
      <dgm:spPr/>
    </dgm:pt>
    <dgm:pt modelId="{2BA248D9-E34C-4A7A-9172-237D63229248}">
      <dgm:prSet phldrT="[Text]"/>
      <dgm:spPr/>
      <dgm:t>
        <a:bodyPr/>
        <a:lstStyle/>
        <a:p>
          <a:r>
            <a:rPr lang="en-US" dirty="0"/>
            <a:t>Analyze the Data</a:t>
          </a:r>
        </a:p>
      </dgm:t>
    </dgm:pt>
    <dgm:pt modelId="{81EE6086-0994-4DB6-9DF9-95B59A71F076}" type="parTrans" cxnId="{2D36110A-20D3-4BAE-84E8-FDF960661F53}">
      <dgm:prSet/>
      <dgm:spPr/>
      <dgm:t>
        <a:bodyPr/>
        <a:lstStyle/>
        <a:p>
          <a:endParaRPr lang="en-US"/>
        </a:p>
      </dgm:t>
    </dgm:pt>
    <dgm:pt modelId="{E3DCB774-EA06-4F88-BE11-6DF0CEF14C70}" type="sibTrans" cxnId="{2D36110A-20D3-4BAE-84E8-FDF960661F53}">
      <dgm:prSet/>
      <dgm:spPr/>
      <dgm:t>
        <a:bodyPr/>
        <a:lstStyle/>
        <a:p>
          <a:endParaRPr lang="en-US"/>
        </a:p>
      </dgm:t>
    </dgm:pt>
    <dgm:pt modelId="{E2744F49-01E7-417B-BD42-D3BAFCE15B66}">
      <dgm:prSet phldrT="[Text]"/>
      <dgm:spPr/>
      <dgm:t>
        <a:bodyPr/>
        <a:lstStyle/>
        <a:p>
          <a:r>
            <a:rPr lang="en-US" dirty="0"/>
            <a:t>Build the model</a:t>
          </a:r>
        </a:p>
      </dgm:t>
    </dgm:pt>
    <dgm:pt modelId="{01B7679C-9C5E-4935-8359-10878BD7D666}" type="parTrans" cxnId="{2F8ED1AF-53D4-4352-AAE0-64867582EC8F}">
      <dgm:prSet/>
      <dgm:spPr/>
      <dgm:t>
        <a:bodyPr/>
        <a:lstStyle/>
        <a:p>
          <a:endParaRPr lang="en-US"/>
        </a:p>
      </dgm:t>
    </dgm:pt>
    <dgm:pt modelId="{6833A62A-511B-49C1-BCC7-50FA0D3B8050}" type="sibTrans" cxnId="{2F8ED1AF-53D4-4352-AAE0-64867582EC8F}">
      <dgm:prSet/>
      <dgm:spPr/>
      <dgm:t>
        <a:bodyPr/>
        <a:lstStyle/>
        <a:p>
          <a:endParaRPr lang="en-US"/>
        </a:p>
      </dgm:t>
    </dgm:pt>
    <dgm:pt modelId="{0755616A-FD85-417C-8015-9A553C37E8DC}">
      <dgm:prSet phldrT="[Text]"/>
      <dgm:spPr/>
      <dgm:t>
        <a:bodyPr/>
        <a:lstStyle/>
        <a:p>
          <a:r>
            <a:rPr lang="en-US" dirty="0"/>
            <a:t>Use the model</a:t>
          </a:r>
        </a:p>
      </dgm:t>
    </dgm:pt>
    <dgm:pt modelId="{62EC0969-34CB-4158-B933-0870AB97194B}" type="parTrans" cxnId="{85A21BFB-9CF7-4450-A4F4-0B927DF3227E}">
      <dgm:prSet/>
      <dgm:spPr/>
      <dgm:t>
        <a:bodyPr/>
        <a:lstStyle/>
        <a:p>
          <a:endParaRPr lang="en-US"/>
        </a:p>
      </dgm:t>
    </dgm:pt>
    <dgm:pt modelId="{B809E15A-D103-4343-9D76-382F11B26B86}" type="sibTrans" cxnId="{85A21BFB-9CF7-4450-A4F4-0B927DF3227E}">
      <dgm:prSet/>
      <dgm:spPr/>
      <dgm:t>
        <a:bodyPr/>
        <a:lstStyle/>
        <a:p>
          <a:endParaRPr lang="en-US"/>
        </a:p>
      </dgm:t>
    </dgm:pt>
    <dgm:pt modelId="{2D747078-7281-4EB4-8011-65852A65D204}" type="pres">
      <dgm:prSet presAssocID="{42496267-BEEB-46E3-9568-912ECFE7F804}" presName="Name0" presStyleCnt="0">
        <dgm:presLayoutVars>
          <dgm:dir/>
          <dgm:resizeHandles val="exact"/>
        </dgm:presLayoutVars>
      </dgm:prSet>
      <dgm:spPr/>
    </dgm:pt>
    <dgm:pt modelId="{34560FBA-80EF-402C-B337-5FEF9CAF86C5}" type="pres">
      <dgm:prSet presAssocID="{2BA248D9-E34C-4A7A-9172-237D63229248}" presName="node" presStyleLbl="node1" presStyleIdx="0" presStyleCnt="3">
        <dgm:presLayoutVars>
          <dgm:bulletEnabled val="1"/>
        </dgm:presLayoutVars>
      </dgm:prSet>
      <dgm:spPr/>
    </dgm:pt>
    <dgm:pt modelId="{97405B48-2899-4F63-AA84-799CD976E1A0}" type="pres">
      <dgm:prSet presAssocID="{E3DCB774-EA06-4F88-BE11-6DF0CEF14C70}" presName="sibTrans" presStyleLbl="sibTrans2D1" presStyleIdx="0" presStyleCnt="2"/>
      <dgm:spPr/>
    </dgm:pt>
    <dgm:pt modelId="{B44DE4EB-F796-478D-8FA7-695F15C9E4A9}" type="pres">
      <dgm:prSet presAssocID="{E3DCB774-EA06-4F88-BE11-6DF0CEF14C70}" presName="connectorText" presStyleLbl="sibTrans2D1" presStyleIdx="0" presStyleCnt="2"/>
      <dgm:spPr/>
    </dgm:pt>
    <dgm:pt modelId="{F089AD34-F8F2-491A-8147-EAB7AE5D95BE}" type="pres">
      <dgm:prSet presAssocID="{E2744F49-01E7-417B-BD42-D3BAFCE15B66}" presName="node" presStyleLbl="node1" presStyleIdx="1" presStyleCnt="3">
        <dgm:presLayoutVars>
          <dgm:bulletEnabled val="1"/>
        </dgm:presLayoutVars>
      </dgm:prSet>
      <dgm:spPr/>
    </dgm:pt>
    <dgm:pt modelId="{843772F0-7AB6-475E-9DB4-7900F66E315E}" type="pres">
      <dgm:prSet presAssocID="{6833A62A-511B-49C1-BCC7-50FA0D3B8050}" presName="sibTrans" presStyleLbl="sibTrans2D1" presStyleIdx="1" presStyleCnt="2"/>
      <dgm:spPr/>
    </dgm:pt>
    <dgm:pt modelId="{8A9D5B4A-954C-47DD-95DA-B9560B6E9B1B}" type="pres">
      <dgm:prSet presAssocID="{6833A62A-511B-49C1-BCC7-50FA0D3B8050}" presName="connectorText" presStyleLbl="sibTrans2D1" presStyleIdx="1" presStyleCnt="2"/>
      <dgm:spPr/>
    </dgm:pt>
    <dgm:pt modelId="{B90618F3-A0AB-421F-B9A0-4FCB639D531F}" type="pres">
      <dgm:prSet presAssocID="{0755616A-FD85-417C-8015-9A553C37E8DC}" presName="node" presStyleLbl="node1" presStyleIdx="2" presStyleCnt="3">
        <dgm:presLayoutVars>
          <dgm:bulletEnabled val="1"/>
        </dgm:presLayoutVars>
      </dgm:prSet>
      <dgm:spPr/>
    </dgm:pt>
  </dgm:ptLst>
  <dgm:cxnLst>
    <dgm:cxn modelId="{813B7902-604A-4049-B933-96CB4A1E6C58}" type="presOf" srcId="{42496267-BEEB-46E3-9568-912ECFE7F804}" destId="{2D747078-7281-4EB4-8011-65852A65D204}" srcOrd="0" destOrd="0" presId="urn:microsoft.com/office/officeart/2005/8/layout/process1"/>
    <dgm:cxn modelId="{2D36110A-20D3-4BAE-84E8-FDF960661F53}" srcId="{42496267-BEEB-46E3-9568-912ECFE7F804}" destId="{2BA248D9-E34C-4A7A-9172-237D63229248}" srcOrd="0" destOrd="0" parTransId="{81EE6086-0994-4DB6-9DF9-95B59A71F076}" sibTransId="{E3DCB774-EA06-4F88-BE11-6DF0CEF14C70}"/>
    <dgm:cxn modelId="{0870FD3E-BA53-45E3-916B-527EEE5C5517}" type="presOf" srcId="{E2744F49-01E7-417B-BD42-D3BAFCE15B66}" destId="{F089AD34-F8F2-491A-8147-EAB7AE5D95BE}" srcOrd="0" destOrd="0" presId="urn:microsoft.com/office/officeart/2005/8/layout/process1"/>
    <dgm:cxn modelId="{79159572-C746-448C-BBB4-E88355DEC1FC}" type="presOf" srcId="{E3DCB774-EA06-4F88-BE11-6DF0CEF14C70}" destId="{B44DE4EB-F796-478D-8FA7-695F15C9E4A9}" srcOrd="1" destOrd="0" presId="urn:microsoft.com/office/officeart/2005/8/layout/process1"/>
    <dgm:cxn modelId="{B6B67055-B6D3-4C66-A2B0-275930960AF3}" type="presOf" srcId="{2BA248D9-E34C-4A7A-9172-237D63229248}" destId="{34560FBA-80EF-402C-B337-5FEF9CAF86C5}" srcOrd="0" destOrd="0" presId="urn:microsoft.com/office/officeart/2005/8/layout/process1"/>
    <dgm:cxn modelId="{7717D18B-928A-48B4-923F-9E90ABCF75C1}" type="presOf" srcId="{0755616A-FD85-417C-8015-9A553C37E8DC}" destId="{B90618F3-A0AB-421F-B9A0-4FCB639D531F}" srcOrd="0" destOrd="0" presId="urn:microsoft.com/office/officeart/2005/8/layout/process1"/>
    <dgm:cxn modelId="{55825B99-1EB4-4F96-B468-302DD944D7AE}" type="presOf" srcId="{E3DCB774-EA06-4F88-BE11-6DF0CEF14C70}" destId="{97405B48-2899-4F63-AA84-799CD976E1A0}" srcOrd="0" destOrd="0" presId="urn:microsoft.com/office/officeart/2005/8/layout/process1"/>
    <dgm:cxn modelId="{2F8ED1AF-53D4-4352-AAE0-64867582EC8F}" srcId="{42496267-BEEB-46E3-9568-912ECFE7F804}" destId="{E2744F49-01E7-417B-BD42-D3BAFCE15B66}" srcOrd="1" destOrd="0" parTransId="{01B7679C-9C5E-4935-8359-10878BD7D666}" sibTransId="{6833A62A-511B-49C1-BCC7-50FA0D3B8050}"/>
    <dgm:cxn modelId="{5E31E2F3-848F-4043-ACF7-03FC22F4178C}" type="presOf" srcId="{6833A62A-511B-49C1-BCC7-50FA0D3B8050}" destId="{8A9D5B4A-954C-47DD-95DA-B9560B6E9B1B}" srcOrd="1" destOrd="0" presId="urn:microsoft.com/office/officeart/2005/8/layout/process1"/>
    <dgm:cxn modelId="{FAA34FF5-3E47-4D86-ABB5-B4C492F859F8}" type="presOf" srcId="{6833A62A-511B-49C1-BCC7-50FA0D3B8050}" destId="{843772F0-7AB6-475E-9DB4-7900F66E315E}" srcOrd="0" destOrd="0" presId="urn:microsoft.com/office/officeart/2005/8/layout/process1"/>
    <dgm:cxn modelId="{85A21BFB-9CF7-4450-A4F4-0B927DF3227E}" srcId="{42496267-BEEB-46E3-9568-912ECFE7F804}" destId="{0755616A-FD85-417C-8015-9A553C37E8DC}" srcOrd="2" destOrd="0" parTransId="{62EC0969-34CB-4158-B933-0870AB97194B}" sibTransId="{B809E15A-D103-4343-9D76-382F11B26B86}"/>
    <dgm:cxn modelId="{92550A56-5FB5-4889-90C8-5D370A47228A}" type="presParOf" srcId="{2D747078-7281-4EB4-8011-65852A65D204}" destId="{34560FBA-80EF-402C-B337-5FEF9CAF86C5}" srcOrd="0" destOrd="0" presId="urn:microsoft.com/office/officeart/2005/8/layout/process1"/>
    <dgm:cxn modelId="{86158377-1317-4ADF-8D16-4AE986FB9C14}" type="presParOf" srcId="{2D747078-7281-4EB4-8011-65852A65D204}" destId="{97405B48-2899-4F63-AA84-799CD976E1A0}" srcOrd="1" destOrd="0" presId="urn:microsoft.com/office/officeart/2005/8/layout/process1"/>
    <dgm:cxn modelId="{FEDC62B0-5AB2-48AA-92A6-F7C942376B85}" type="presParOf" srcId="{97405B48-2899-4F63-AA84-799CD976E1A0}" destId="{B44DE4EB-F796-478D-8FA7-695F15C9E4A9}" srcOrd="0" destOrd="0" presId="urn:microsoft.com/office/officeart/2005/8/layout/process1"/>
    <dgm:cxn modelId="{2A5F3135-8CF2-445D-840D-B8255FFA294B}" type="presParOf" srcId="{2D747078-7281-4EB4-8011-65852A65D204}" destId="{F089AD34-F8F2-491A-8147-EAB7AE5D95BE}" srcOrd="2" destOrd="0" presId="urn:microsoft.com/office/officeart/2005/8/layout/process1"/>
    <dgm:cxn modelId="{0EC24E6E-A4EF-4EF3-A6CC-F74013FBD714}" type="presParOf" srcId="{2D747078-7281-4EB4-8011-65852A65D204}" destId="{843772F0-7AB6-475E-9DB4-7900F66E315E}" srcOrd="3" destOrd="0" presId="urn:microsoft.com/office/officeart/2005/8/layout/process1"/>
    <dgm:cxn modelId="{110DBA71-3784-4C1D-9288-F5B984DB905A}" type="presParOf" srcId="{843772F0-7AB6-475E-9DB4-7900F66E315E}" destId="{8A9D5B4A-954C-47DD-95DA-B9560B6E9B1B}" srcOrd="0" destOrd="0" presId="urn:microsoft.com/office/officeart/2005/8/layout/process1"/>
    <dgm:cxn modelId="{4202C379-55D4-40F7-9014-408322214242}" type="presParOf" srcId="{2D747078-7281-4EB4-8011-65852A65D204}" destId="{B90618F3-A0AB-421F-B9A0-4FCB639D531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60FBA-80EF-402C-B337-5FEF9CAF86C5}">
      <dsp:nvSpPr>
        <dsp:cNvPr id="0" name=""/>
        <dsp:cNvSpPr/>
      </dsp:nvSpPr>
      <dsp:spPr>
        <a:xfrm>
          <a:off x="7143" y="230016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Analyze the Data</a:t>
          </a:r>
        </a:p>
      </dsp:txBody>
      <dsp:txXfrm>
        <a:off x="44665" y="267538"/>
        <a:ext cx="2060143" cy="1206068"/>
      </dsp:txXfrm>
    </dsp:sp>
    <dsp:sp modelId="{97405B48-2899-4F63-AA84-799CD976E1A0}">
      <dsp:nvSpPr>
        <dsp:cNvPr id="0" name=""/>
        <dsp:cNvSpPr/>
      </dsp:nvSpPr>
      <dsp:spPr>
        <a:xfrm>
          <a:off x="2355850" y="60580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355850" y="711714"/>
        <a:ext cx="316861" cy="317716"/>
      </dsp:txXfrm>
    </dsp:sp>
    <dsp:sp modelId="{F089AD34-F8F2-491A-8147-EAB7AE5D95BE}">
      <dsp:nvSpPr>
        <dsp:cNvPr id="0" name=""/>
        <dsp:cNvSpPr/>
      </dsp:nvSpPr>
      <dsp:spPr>
        <a:xfrm>
          <a:off x="2996406" y="230016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Build the model</a:t>
          </a:r>
        </a:p>
      </dsp:txBody>
      <dsp:txXfrm>
        <a:off x="3033928" y="267538"/>
        <a:ext cx="2060143" cy="1206068"/>
      </dsp:txXfrm>
    </dsp:sp>
    <dsp:sp modelId="{843772F0-7AB6-475E-9DB4-7900F66E315E}">
      <dsp:nvSpPr>
        <dsp:cNvPr id="0" name=""/>
        <dsp:cNvSpPr/>
      </dsp:nvSpPr>
      <dsp:spPr>
        <a:xfrm>
          <a:off x="5345112" y="60580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345112" y="711714"/>
        <a:ext cx="316861" cy="317716"/>
      </dsp:txXfrm>
    </dsp:sp>
    <dsp:sp modelId="{B90618F3-A0AB-421F-B9A0-4FCB639D531F}">
      <dsp:nvSpPr>
        <dsp:cNvPr id="0" name=""/>
        <dsp:cNvSpPr/>
      </dsp:nvSpPr>
      <dsp:spPr>
        <a:xfrm>
          <a:off x="5985668" y="230016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Use the model</a:t>
          </a:r>
        </a:p>
      </dsp:txBody>
      <dsp:txXfrm>
        <a:off x="6023190" y="267538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61717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8300"/>
            <a:ext cx="9144000" cy="1790700"/>
          </a:xfrm>
        </p:spPr>
        <p:txBody>
          <a:bodyPr/>
          <a:lstStyle/>
          <a:p>
            <a:r>
              <a:rPr lang="en-US" dirty="0"/>
              <a:t>Employee Status Machine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project</a:t>
            </a:r>
          </a:p>
        </p:txBody>
      </p:sp>
      <p:pic>
        <p:nvPicPr>
          <p:cNvPr id="3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>
            <a:off x="5827143" y="2570364"/>
            <a:ext cx="5896604" cy="303045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5E1D27E-4BF2-46AA-B2BA-372D4674808F}"/>
              </a:ext>
            </a:extLst>
          </p:cNvPr>
          <p:cNvSpPr txBox="1"/>
          <p:nvPr/>
        </p:nvSpPr>
        <p:spPr>
          <a:xfrm>
            <a:off x="806824" y="1546412"/>
            <a:ext cx="10916923" cy="486296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a company trying to control attribution, a machine learning model should e developed to determine the type of employees leaving and predict which of the existing employees is prone to leave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following attributes was made available :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Two excel sheets were also given containing data (based on the attributes above) for employees that already left and employees that still exist. </a:t>
            </a:r>
          </a:p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B6583F7-0E66-4213-8352-E64D27600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968952"/>
              </p:ext>
            </p:extLst>
          </p:nvPr>
        </p:nvGraphicFramePr>
        <p:xfrm>
          <a:off x="1748118" y="2743200"/>
          <a:ext cx="6118412" cy="2178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18412">
                  <a:extLst>
                    <a:ext uri="{9D8B030D-6E8A-4147-A177-3AD203B41FA5}">
                      <a16:colId xmlns:a16="http://schemas.microsoft.com/office/drawing/2014/main" val="4261895621"/>
                    </a:ext>
                  </a:extLst>
                </a:gridCol>
              </a:tblGrid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Satisfaction Level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3079767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Last evaluation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789729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Number of projects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650720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Average monthly 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3569667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Time spent at the company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8798767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Whether they have had a work accident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5843744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Whether they have had a promotion in the last 5 years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0494208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Departments (column sales)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46761318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Salary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3874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r>
              <a:rPr lang="en-US" dirty="0"/>
              <a:t>Initial thoughts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AA039-D052-4054-9827-8236B24585B2}"/>
              </a:ext>
            </a:extLst>
          </p:cNvPr>
          <p:cNvSpPr txBox="1"/>
          <p:nvPr/>
        </p:nvSpPr>
        <p:spPr>
          <a:xfrm>
            <a:off x="833718" y="1546412"/>
            <a:ext cx="9762564" cy="446442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a beginner in the field of data analysis and machine learning, I saw this project as too difficult initially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After some study, I realized that this could be easily solved by building a model and using the model on the data set to predict which employees are prone to leave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Having just learned decision trees, I saw decision trees classification model as a perfect tool to solve the problem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was an initial thought and can be changed</a:t>
            </a:r>
          </a:p>
        </p:txBody>
      </p:sp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1A562-8504-4106-9E4F-9E2525213DAE}"/>
              </a:ext>
            </a:extLst>
          </p:cNvPr>
          <p:cNvSpPr txBox="1"/>
          <p:nvPr/>
        </p:nvSpPr>
        <p:spPr>
          <a:xfrm>
            <a:off x="1021976" y="1640541"/>
            <a:ext cx="10408024" cy="476883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C2E8C0-F1EE-4E4A-A4F3-453C5A192969}"/>
              </a:ext>
            </a:extLst>
          </p:cNvPr>
          <p:cNvSpPr txBox="1"/>
          <p:nvPr/>
        </p:nvSpPr>
        <p:spPr>
          <a:xfrm>
            <a:off x="699247" y="1385047"/>
            <a:ext cx="10730753" cy="488128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9E3EE-222D-498A-B4F8-D0219B7DC074}"/>
              </a:ext>
            </a:extLst>
          </p:cNvPr>
          <p:cNvSpPr txBox="1"/>
          <p:nvPr/>
        </p:nvSpPr>
        <p:spPr>
          <a:xfrm>
            <a:off x="833718" y="1385047"/>
            <a:ext cx="10596282" cy="523090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Solving this problem will require different steps and also follow the usual machine learning path way: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The steps to follow are listed below: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Inspect, group, visualize and summarize the data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 a training and test data set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 the model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 the test set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Evaluate the results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Understand the reasons for results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 and deploy the model for prediction (Test)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04395D5B-C9C5-4714-BF1D-A5BE7BE397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5955485"/>
              </p:ext>
            </p:extLst>
          </p:nvPr>
        </p:nvGraphicFramePr>
        <p:xfrm>
          <a:off x="1763058" y="1855693"/>
          <a:ext cx="8128000" cy="1741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747CAC-F3CB-4212-A786-9FB8FC4E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68629" y="2868230"/>
            <a:ext cx="6318174" cy="640080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5D818A-6772-4140-9BA1-3E5C4AC85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0017084" y="1839905"/>
            <a:ext cx="1866468" cy="894830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58000">
                <a:srgbClr val="F5F5F5">
                  <a:alpha val="8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DAD8664-36BE-4DAA-891F-A2320264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F85F1-EF79-4224-A43F-BDA3864E78CE}"/>
              </a:ext>
            </a:extLst>
          </p:cNvPr>
          <p:cNvSpPr txBox="1"/>
          <p:nvPr/>
        </p:nvSpPr>
        <p:spPr>
          <a:xfrm>
            <a:off x="847165" y="1354086"/>
            <a:ext cx="10739638" cy="460296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inspection will involve getting an overview of the data distribution , variables and groups.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variables can the be grouped into mother sets based on how they are related.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Dependent variables and independent variables can be figured out and in this case, the dependent variable is whether the employee has left (column will be created).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 codes can be run to further understand the data like describe function.</a:t>
            </a:r>
          </a:p>
        </p:txBody>
      </p:sp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D516-A0B4-4D09-B6A3-A788188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DDAA5-B6E5-49F3-A495-94B7927A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4355B-9CDE-4222-876B-A31E2250E716}"/>
              </a:ext>
            </a:extLst>
          </p:cNvPr>
          <p:cNvSpPr txBox="1"/>
          <p:nvPr/>
        </p:nvSpPr>
        <p:spPr>
          <a:xfrm>
            <a:off x="833718" y="1506071"/>
            <a:ext cx="10542494" cy="490330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BE51CF-0741-4461-AE70-0CD06F5EE498}"/>
              </a:ext>
            </a:extLst>
          </p:cNvPr>
          <p:cNvSpPr txBox="1"/>
          <p:nvPr/>
        </p:nvSpPr>
        <p:spPr>
          <a:xfrm>
            <a:off x="833718" y="1358153"/>
            <a:ext cx="10753848" cy="48374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US" sz="14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27E595-30FD-4DD9-A9B6-CDBA405DC6C8}"/>
              </a:ext>
            </a:extLst>
          </p:cNvPr>
          <p:cNvSpPr txBox="1"/>
          <p:nvPr/>
        </p:nvSpPr>
        <p:spPr>
          <a:xfrm>
            <a:off x="833718" y="1358153"/>
            <a:ext cx="10542494" cy="505121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US" sz="14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351BFA-BB0C-4FD8-B15A-21687BD365FE}"/>
              </a:ext>
            </a:extLst>
          </p:cNvPr>
          <p:cNvSpPr txBox="1"/>
          <p:nvPr/>
        </p:nvSpPr>
        <p:spPr>
          <a:xfrm>
            <a:off x="833718" y="1506071"/>
            <a:ext cx="10878670" cy="48374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next step is preparing the train and test data set.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Before this, the data for existing employees and gone employees are combined to form one data frame to ease the modelling job and a new column can be created to show the employee existence status. 0 representing existence and 1 representing a gone employee.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full data set can then be split into the train and test set.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Any ratio can be used for separation ranging from 80:20 to 60:40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train dataset is trained using different models and the model with the best result is then picked chosen.</a:t>
            </a:r>
          </a:p>
        </p:txBody>
      </p:sp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FBFBF3-590D-4A66-9BA0-57A26CEB8257}"/>
              </a:ext>
            </a:extLst>
          </p:cNvPr>
          <p:cNvSpPr txBox="1"/>
          <p:nvPr/>
        </p:nvSpPr>
        <p:spPr>
          <a:xfrm>
            <a:off x="833718" y="1438835"/>
            <a:ext cx="10623176" cy="484094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Splitting the data gives a chance to work on the training data set.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dependent variables and the independent variable would have been selected prior.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model can be trained with as many algorithms as one would like. Some of the algorithms that can be used are; Linear Regression, Logistic Regression, Decision Trees, Naive Bayes, K-Means, Random Forests, Gradient Boosting Algorithms, Support Vector Machine.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Based on the kind of problem presented, classification algorithms like decision trees, Naive Bayes, Logistic regression can be used to train the model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After the models have been trained, they can each be tested on the test data set and the best can be determined on score, precision, accuracy.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939BB5-E025-4652-9F34-94E64389C8A8}"/>
              </a:ext>
            </a:extLst>
          </p:cNvPr>
          <p:cNvSpPr txBox="1"/>
          <p:nvPr/>
        </p:nvSpPr>
        <p:spPr>
          <a:xfrm>
            <a:off x="847165" y="1452282"/>
            <a:ext cx="10740401" cy="509643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next step involves scoring the test data set.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Scoring will give an insight on how each of the models perform.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scoring, evaluation of each of the models is important.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 the degree of accuracy and precision is needed to know which of the models should be used to make predictions in the future.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Visualizing the results will also help one to arrive at a conclusion.</a:t>
            </a:r>
          </a:p>
          <a:p>
            <a:pPr marL="171450" indent="-1714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35181"/>
            <a:ext cx="10983132" cy="747763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95BAC4-62B4-4D5E-B6D7-5E6162F68FFC}"/>
              </a:ext>
            </a:extLst>
          </p:cNvPr>
          <p:cNvSpPr txBox="1"/>
          <p:nvPr/>
        </p:nvSpPr>
        <p:spPr>
          <a:xfrm>
            <a:off x="847165" y="1411941"/>
            <a:ext cx="10596282" cy="488128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final steps involve getting a diagrammatic representation of the decision tree to determine why the results were gotten and deploying the model for use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Studying the decision tree(suppose decision tree algorithm was used) will help one determine the pure and impure data and the data that are linked to a particular result.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way, one will know what conditions make employees leave and in what conditions they stay.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After this has been determined, the model can then be saved  and used on any data set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this case, it can be used on the data set containing employees that are still existing in the firm.</a:t>
            </a: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descr="SELECT THE ARROW WHEN IN SLIDE SHOW MODE&#10;"/>
          <p:cNvSpPr txBox="1"/>
          <p:nvPr/>
        </p:nvSpPr>
        <p:spPr>
          <a:xfrm>
            <a:off x="303720" y="3843499"/>
            <a:ext cx="5388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 new column can be created 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that contains the values of the prediction. </a:t>
            </a:r>
            <a:r>
              <a:rPr lang="en-US" sz="16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0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showing that the employee will remain and </a:t>
            </a:r>
            <a:r>
              <a:rPr lang="en-US" sz="16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showing that the employee will leave</a:t>
            </a:r>
          </a:p>
        </p:txBody>
      </p:sp>
      <p:pic>
        <p:nvPicPr>
          <p:cNvPr id="8" name="Picture 7" descr="Arrow pointing right with a hyperlink to the PowerPoint team blog. Select the image to visit the PowerPoint team blog ">
            <a:hlinkClick r:id="rId3" tooltip="Select here to visit the PowerPoint team blog.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30" y="3853567"/>
            <a:ext cx="661940" cy="66194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F1495D9-5D2C-48E3-BD7E-06806942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Solution?</a:t>
            </a:r>
          </a:p>
        </p:txBody>
      </p:sp>
      <p:sp>
        <p:nvSpPr>
          <p:cNvPr id="27" name="TextBox 26" descr="SELECT THE ARROW WHEN IN SLIDE SHOW MODE&#10;">
            <a:extLst>
              <a:ext uri="{FF2B5EF4-FFF2-40B4-BE49-F238E27FC236}">
                <a16:creationId xmlns:a16="http://schemas.microsoft.com/office/drawing/2014/main" id="{38F25AAB-F9B6-4CCC-BD3F-EC7BBBA26E34}"/>
              </a:ext>
            </a:extLst>
          </p:cNvPr>
          <p:cNvSpPr txBox="1"/>
          <p:nvPr/>
        </p:nvSpPr>
        <p:spPr>
          <a:xfrm>
            <a:off x="6571962" y="3826103"/>
            <a:ext cx="5388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The results can then be grouped based on this classification given by the prediction model.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16411177_Bring Your Presentations_win32_mlw - v3" id="{DE0A717D-0B12-4D44-8613-A03A4CD6D7EE}" vid="{30B64ACD-7D47-478C-8DC1-E97D1D0752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620A972-1CDD-4EF3-89C2-EBD9E5E1FD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A56FF6-92BD-46DE-9059-01B9F08E88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90717D-CB20-4004-8DD0-01756D9D039A}">
  <ds:schemaRefs>
    <ds:schemaRef ds:uri="http://schemas.microsoft.com/office/2006/documentManagement/types"/>
    <ds:schemaRef ds:uri="71af3243-3dd4-4a8d-8c0d-dd76da1f02a5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Bring your presentations to life with 3D</Template>
  <TotalTime>0</TotalTime>
  <Words>827</Words>
  <Application>Microsoft Office PowerPoint</Application>
  <PresentationFormat>Widescreen</PresentationFormat>
  <Paragraphs>129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Inherit</vt:lpstr>
      <vt:lpstr>Segoe UI</vt:lpstr>
      <vt:lpstr>Segoe UI Light</vt:lpstr>
      <vt:lpstr>Get Started with 3D</vt:lpstr>
      <vt:lpstr>Employee Status Machine Learning Project</vt:lpstr>
      <vt:lpstr>About the project</vt:lpstr>
      <vt:lpstr>Initial thoughts</vt:lpstr>
      <vt:lpstr>Methodology</vt:lpstr>
      <vt:lpstr>Methodology</vt:lpstr>
      <vt:lpstr>Methodology</vt:lpstr>
      <vt:lpstr>Methodology</vt:lpstr>
      <vt:lpstr>Methodology</vt:lpstr>
      <vt:lpstr>Methodology</vt:lpstr>
      <vt:lpstr>Final Solution?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2019-12-24T09:03:21Z</dcterms:created>
  <dcterms:modified xsi:type="dcterms:W3CDTF">2019-12-24T17:08:54Z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